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Multimodal AAC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DCDCDC"/>
                </a:solidFill>
                <a:latin typeface="Calibri"/>
              </a:rPr>
              <a:t>Bonus-Driven Final System (Project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Syed Omer Shah  |  Vansh Thakkar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4B4B4"/>
                </a:solidFill>
                <a:latin typeface="Calibri"/>
              </a:rPr>
              <a:t>CSE 635  |  NLP and Text Mining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Problem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/>
              </a:rPr>
              <a:t>Real-time, grounded, multimodal AAC under a 5-second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12121"/>
                </a:solidFill>
                <a:latin typeface="Calibri"/>
              </a:rPr>
              <a:t>• AAC users with motor / speech impairments need fast, identity-faithful replies</a:t>
            </a:r>
          </a:p>
          <a:p>
            <a:r>
              <a:rPr sz="1800">
                <a:solidFill>
                  <a:srgbClr val="212121"/>
                </a:solidFill>
                <a:latin typeface="Calibri"/>
              </a:rPr>
              <a:t>• LLMs raise two new risks: hallucinated personal facts + unbounded latency</a:t>
            </a:r>
          </a:p>
          <a:p>
            <a:r>
              <a:rPr sz="1800">
                <a:solidFill>
                  <a:srgbClr val="212121"/>
                </a:solidFill>
                <a:latin typeface="Calibri"/>
              </a:rPr>
              <a:t>• Goal: 3 grounded, polarity-correct options per turn, in under 5 seconds</a:t>
            </a:r>
          </a:p>
          <a:p>
            <a:r>
              <a:rPr sz="1800">
                <a:solidFill>
                  <a:srgbClr val="212121"/>
                </a:solidFill>
                <a:latin typeface="Calibri"/>
              </a:rPr>
              <a:t>• Goal: keep all face frames and biosignals client-side (privacy first)</a:t>
            </a:r>
          </a:p>
          <a:p>
            <a:r>
              <a:rPr sz="1800">
                <a:solidFill>
                  <a:srgbClr val="212121"/>
                </a:solidFill>
                <a:latin typeface="Calibri"/>
              </a:rPr>
              <a:t>• Goal: implement all 5 P4 required nodes + all 5 P4 bonuses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/>
              </a:rPr>
              <a:t>7-node LangGraph-style pipeline with deadline-raced LLM rewriter</a:t>
            </a:r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9494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18872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12121"/>
                </a:solidFill>
                <a:latin typeface="Calibri"/>
              </a:rPr>
              <a:t>• FaceCue + Multimodal Mapping</a:t>
            </a:r>
          </a:p>
          <a:p>
            <a:r>
              <a:rPr sz="1500">
                <a:solidFill>
                  <a:srgbClr val="212121"/>
                </a:solidFill>
                <a:latin typeface="Calibri"/>
              </a:rPr>
              <a:t>• Parallel Prep (Router + Memory)</a:t>
            </a:r>
          </a:p>
          <a:p>
            <a:r>
              <a:rPr sz="1500">
                <a:solidFill>
                  <a:srgbClr val="212121"/>
                </a:solidFill>
                <a:latin typeface="Calibri"/>
              </a:rPr>
              <a:t>• Source Priority Planner</a:t>
            </a:r>
          </a:p>
          <a:p>
            <a:r>
              <a:rPr sz="1500">
                <a:solidFill>
                  <a:srgbClr val="212121"/>
                </a:solidFill>
                <a:latin typeface="Calibri"/>
              </a:rPr>
              <a:t>• Bucket Selector (12 buckets)</a:t>
            </a:r>
          </a:p>
          <a:p>
            <a:r>
              <a:rPr sz="1500">
                <a:solidFill>
                  <a:srgbClr val="212121"/>
                </a:solidFill>
                <a:latin typeface="Calibri"/>
              </a:rPr>
              <a:t>• Retrieve &amp; Rerank (LTM/STM/PB)</a:t>
            </a:r>
          </a:p>
          <a:p>
            <a:r>
              <a:rPr sz="1500">
                <a:solidFill>
                  <a:srgbClr val="212121"/>
                </a:solidFill>
                <a:latin typeface="Calibri"/>
              </a:rPr>
              <a:t>• Evidence Refiner + Groundedness Guard</a:t>
            </a:r>
          </a:p>
          <a:p>
            <a:r>
              <a:rPr sz="1500">
                <a:solidFill>
                  <a:srgbClr val="212121"/>
                </a:solidFill>
                <a:latin typeface="Calibri"/>
              </a:rPr>
              <a:t>• Candidate Generator (rules + LLM)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Multimodal Input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/>
              </a:rPr>
              <a:t>Channels  -&gt;  polarity / tone / verbosity / bucket boosts</a:t>
            </a:r>
          </a:p>
        </p:txBody>
      </p:sp>
      <p:pic>
        <p:nvPicPr>
          <p:cNvPr id="5" name="Picture 4" descr="multimodal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9494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18872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12121"/>
                </a:solidFill>
                <a:latin typeface="Calibri"/>
              </a:rPr>
              <a:t>• Face: FER+ 7-class emotion locks tone</a:t>
            </a:r>
          </a:p>
          <a:p>
            <a:r>
              <a:rPr sz="1500">
                <a:solidFill>
                  <a:srgbClr val="212121"/>
                </a:solidFill>
                <a:latin typeface="Calibri"/>
              </a:rPr>
              <a:t>• Gesture: thumbs / palm sets polarity</a:t>
            </a:r>
          </a:p>
          <a:p>
            <a:r>
              <a:rPr sz="1500">
                <a:solidFill>
                  <a:srgbClr val="212121"/>
                </a:solidFill>
                <a:latin typeface="Calibri"/>
              </a:rPr>
              <a:t>• Heart rate: &gt;+25 bpm -&gt; short verbosity</a:t>
            </a:r>
          </a:p>
          <a:p>
            <a:r>
              <a:rPr sz="1500">
                <a:solidFill>
                  <a:srgbClr val="212121"/>
                </a:solidFill>
                <a:latin typeface="Calibri"/>
              </a:rPr>
              <a:t>• Gaze: +0.30 boost on gazed bucket (Bonus 1)</a:t>
            </a:r>
          </a:p>
          <a:p>
            <a:r>
              <a:rPr sz="1500">
                <a:solidFill>
                  <a:srgbClr val="212121"/>
                </a:solidFill>
                <a:latin typeface="Calibri"/>
              </a:rPr>
              <a:t>• Vocal vs Air-sign conflict -&gt; trust spatial (Bonus 2)</a:t>
            </a:r>
          </a:p>
          <a:p>
            <a:r>
              <a:rPr sz="1500">
                <a:solidFill>
                  <a:srgbClr val="212121"/>
                </a:solidFill>
                <a:latin typeface="Calibri"/>
              </a:rPr>
              <a:t>• Camera off -&gt; 3 different tone variants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Bonuses 1-3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/>
              </a:rPr>
              <a:t>Gaze activation, conflict resolution, bucket priors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12121"/>
                </a:solidFill>
                <a:latin typeface="Calibri"/>
              </a:rPr>
              <a:t>• 1. Gaze-Based Retrieval Activation - GAZE_TO_BUCKET adds +0.30; redirects retrieval reliably on every probed case</a:t>
            </a:r>
          </a:p>
          <a:p>
            <a:r>
              <a:rPr sz="1700">
                <a:solidFill>
                  <a:srgbClr val="212121"/>
                </a:solidFill>
                <a:latin typeface="Calibri"/>
              </a:rPr>
              <a:t>• 2. Vocal-vs-Air-Sign Conflict Resolution - deliberate spatial channel wins; logged in conflict_resolved</a:t>
            </a:r>
          </a:p>
          <a:p>
            <a:r>
              <a:rPr sz="1700">
                <a:solidFill>
                  <a:srgbClr val="212121"/>
                </a:solidFill>
                <a:latin typeface="Calibri"/>
              </a:rPr>
              <a:t>• 3. Acceptance-Weighted Bucket Priors - bucket_acceptance counter incremented on selection; prior added to retrieval score</a:t>
            </a:r>
          </a:p>
          <a:p>
            <a:r>
              <a:rPr sz="1700">
                <a:solidFill>
                  <a:srgbClr val="212121"/>
                </a:solidFill>
                <a:latin typeface="Calibri"/>
              </a:rPr>
              <a:t>• All three implemented in home/aac/multimodal.py + home/aac/pipelines/nodes.py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Bonuses 4-5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/>
              </a:rPr>
              <a:t>Latency race + online phrase-bank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12121"/>
                </a:solidFill>
                <a:latin typeface="Calibri"/>
              </a:rPr>
              <a:t>• 4. Latency-Optimised Fallback - llm._generate_text iterates flash-lite -&gt; flash; rule-based floor ready immediately; 5s SLA enforced</a:t>
            </a:r>
          </a:p>
          <a:p>
            <a:r>
              <a:rPr sz="1700">
                <a:solidFill>
                  <a:srgbClr val="212121"/>
                </a:solidFill>
                <a:latin typeface="Calibri"/>
              </a:rPr>
              <a:t>•    Eval: max latency 4.33s, p95 = 2.43s, fallback engaged on 11/20 turns</a:t>
            </a:r>
          </a:p>
          <a:p>
            <a:r>
              <a:rPr sz="1700">
                <a:solidFill>
                  <a:srgbClr val="212121"/>
                </a:solidFill>
                <a:latin typeface="Calibri"/>
              </a:rPr>
              <a:t>• 5. Online Index Update on Selection - confirm_response calls record_selection: PB phrases boosted +0.15 or added; bucket_acceptance updated</a:t>
            </a:r>
          </a:p>
          <a:p>
            <a:r>
              <a:rPr sz="1700">
                <a:solidFill>
                  <a:srgbClr val="212121"/>
                </a:solidFill>
                <a:latin typeface="Calibri"/>
              </a:rPr>
              <a:t>•    Eval: 5-turn rollout added 2 new phrases, boosted 3 existing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Final Evaluation (n=20)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/>
              </a:rPr>
              <a:t>All targets met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1280160"/>
          <a:ext cx="75895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017520"/>
              </a:tblGrid>
              <a:tr h="3592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BLEU-2 (peak)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0.219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ROUGE-L (peak)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0.366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Groundedness (peak)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0.545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NLI faithfulness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Intent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Bucket routing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Polarity adherence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Memory write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Multimodal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0.875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Latency avg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1825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Latency p95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2428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SLA &lt;5s hit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</a:tr>
              <a:tr h="3592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LLM fallback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Per-Metric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/>
              </a:rPr>
              <a:t>Across 20 held-out cases</a:t>
            </a:r>
          </a:p>
        </p:txBody>
      </p:sp>
      <p:pic>
        <p:nvPicPr>
          <p:cNvPr id="5" name="Picture 4" descr="evalu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/>
              </a:rPr>
              <a:t>Browser UI: face-api.js, hand gesture, sensors panel</a:t>
            </a:r>
          </a:p>
        </p:txBody>
      </p:sp>
      <p:pic>
        <p:nvPicPr>
          <p:cNvPr id="5" name="Picture 4" descr="aac_demo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77240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18872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12121"/>
                </a:solidFill>
                <a:latin typeface="Calibri"/>
              </a:rPr>
              <a:t>• Three options every turn</a:t>
            </a:r>
          </a:p>
          <a:p>
            <a:r>
              <a:rPr sz="1400">
                <a:solidFill>
                  <a:srgbClr val="212121"/>
                </a:solidFill>
                <a:latin typeface="Calibri"/>
              </a:rPr>
              <a:t>• Polarity-correct lead</a:t>
            </a:r>
          </a:p>
          <a:p>
            <a:r>
              <a:rPr sz="1400">
                <a:solidFill>
                  <a:srgbClr val="212121"/>
                </a:solidFill>
                <a:latin typeface="Calibri"/>
              </a:rPr>
              <a:t>• Tone matches detected emotion</a:t>
            </a:r>
          </a:p>
          <a:p>
            <a:r>
              <a:rPr sz="1400">
                <a:solidFill>
                  <a:srgbClr val="212121"/>
                </a:solidFill>
                <a:latin typeface="Calibri"/>
              </a:rPr>
              <a:t>• Sensors panel: HR / gaze / air-sign</a:t>
            </a:r>
          </a:p>
          <a:p>
            <a:r>
              <a:rPr sz="1400">
                <a:solidFill>
                  <a:srgbClr val="212121"/>
                </a:solidFill>
                <a:latin typeface="Calibri"/>
              </a:rPr>
              <a:t>• Memory pools live-update</a:t>
            </a:r>
          </a:p>
          <a:p>
            <a:r>
              <a:rPr sz="1400">
                <a:solidFill>
                  <a:srgbClr val="212121"/>
                </a:solidFill>
                <a:latin typeface="Calibri"/>
              </a:rPr>
              <a:t>• Demo video included in zip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Limitations &amp;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/>
              </a:rPr>
              <a:t>Synthetic data, IRB next, ethical guard-rails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12121"/>
                </a:solidFill>
                <a:latin typeface="Calibri"/>
              </a:rPr>
              <a:t>• Evaluated on synthetic personas - real AAC user study needs IRB review</a:t>
            </a:r>
          </a:p>
          <a:p>
            <a:r>
              <a:rPr sz="1700">
                <a:solidFill>
                  <a:srgbClr val="212121"/>
                </a:solidFill>
                <a:latin typeface="Calibri"/>
              </a:rPr>
              <a:t>• Phrase bank stays per-user, client-side; only 7-class emotion label leaves browser</a:t>
            </a:r>
          </a:p>
          <a:p>
            <a:r>
              <a:rPr sz="1700">
                <a:solidFill>
                  <a:srgbClr val="212121"/>
                </a:solidFill>
                <a:latin typeface="Calibri"/>
              </a:rPr>
              <a:t>• LLM acts as rewriter; rule-based floor authoritative on polarity + do-not-say</a:t>
            </a:r>
          </a:p>
          <a:p>
            <a:r>
              <a:rPr sz="1700">
                <a:solidFill>
                  <a:srgbClr val="212121"/>
                </a:solidFill>
                <a:latin typeface="Calibri"/>
              </a:rPr>
              <a:t>• GroundednessGuard blocks hallucinated medication / clinical claims</a:t>
            </a:r>
          </a:p>
          <a:p>
            <a:r>
              <a:rPr sz="1700">
                <a:solidFill>
                  <a:srgbClr val="212121"/>
                </a:solidFill>
                <a:latin typeface="Calibri"/>
              </a:rPr>
              <a:t>• Deliverables: Final_Report.pdf, Final_Slides.pptx, source tree, demo video</a:t>
            </a:r>
          </a:p>
          <a:p>
            <a:r>
              <a:rPr sz="1700">
                <a:solidFill>
                  <a:srgbClr val="212121"/>
                </a:solidFill>
                <a:latin typeface="Calibri"/>
              </a:rPr>
              <a:t>• Repo: github.com/VanshPT/Multimodal_AAC (refined fork)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